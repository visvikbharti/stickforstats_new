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package/2006/relationships/metadata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22"/>
    <p:sldId id="263" r:id="rId9"/>
    <p:sldId id="273" r:id="rId23"/>
    <p:sldId id="274" r:id="rId24"/>
    <p:sldId id="264" r:id="rId10"/>
    <p:sldId id="265" r:id="rId11"/>
    <p:sldId id="266" r:id="rId12"/>
    <p:sldId id="275" r:id="rId25"/>
    <p:sldId id="267" r:id="rId13"/>
    <p:sldId id="268" r:id="rId14"/>
    <p:sldId id="276" r:id="rId26"/>
    <p:sldId id="277" r:id="rId27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33"/>
    <p:restoredTop autoAdjust="0" sz="94711"/>
  </p:normalViewPr>
  <p:slideViewPr>
    <p:cSldViewPr snapToGrid="0" snapToObjects="1">
      <p:cViewPr varScale="1">
        <p:scale>
          <a:sx d="100" n="84"/>
          <a:sy d="100" n="84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marL="0" indent="0">
              <a:buNone/>
            </a:pPr>
            <a:r>
              <a:rPr/>
              <a:t>Manuscript-Verification</a:t>
            </a:r>
            <a:r>
              <a:rPr/>
              <a:t> </a:t>
            </a:r>
            <a:r>
              <a:rPr/>
              <a:t>Module</a:t>
            </a:r>
            <a:r>
              <a:rPr/>
              <a:t> </a:t>
            </a:r>
            <a:r>
              <a:rPr/>
              <a:t>+</a:t>
            </a:r>
            <a:r>
              <a:rPr/>
              <a:t> </a:t>
            </a:r>
            <a:r>
              <a:rPr/>
              <a:t>Meta-Research</a:t>
            </a:r>
            <a:r>
              <a:rPr/>
              <a:t> </a:t>
            </a:r>
            <a:r>
              <a:rPr/>
              <a:t>Census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marL="0" indent="0">
              <a:buNone/>
            </a:pPr>
            <a:r>
              <a:rPr/>
              <a:t>Status</a:t>
            </a:r>
            <a:r>
              <a:rPr/>
              <a:t> </a:t>
            </a:r>
            <a:r>
              <a:rPr/>
              <a:t>briefing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2026-06-26</a:t>
            </a:r>
            <a:br/>
            <a:br/>
            <a:r>
              <a:rPr/>
              <a:t>Vishal</a:t>
            </a:r>
            <a:r>
              <a:rPr/>
              <a:t> </a:t>
            </a:r>
            <a:r>
              <a:rPr/>
              <a:t>Bharti</a:t>
            </a:r>
            <a:r>
              <a:rPr/>
              <a:t> </a:t>
            </a:r>
            <a:r>
              <a:rPr/>
              <a:t>·</a:t>
            </a:r>
            <a:r>
              <a:rPr/>
              <a:t> </a:t>
            </a:r>
            <a:r>
              <a:rPr/>
              <a:t>PI:</a:t>
            </a:r>
            <a:r>
              <a:rPr/>
              <a:t> </a:t>
            </a:r>
            <a:r>
              <a:rPr/>
              <a:t>Debojyoti</a:t>
            </a:r>
            <a:r>
              <a:rPr/>
              <a:t> </a:t>
            </a:r>
            <a:r>
              <a:rPr/>
              <a:t>Chakraborty</a:t>
            </a:r>
            <a:r>
              <a:rPr/>
              <a:t> </a:t>
            </a:r>
            <a:r>
              <a:rPr/>
              <a:t>(CSIR-IGIB)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2026-06-26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steer</a:t>
            </a:r>
            <a:r>
              <a:rPr/>
              <a:t> </a:t>
            </a:r>
            <a:r>
              <a:rPr/>
              <a:t>(from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lab</a:t>
            </a:r>
            <a:r>
              <a:rPr/>
              <a:t> </a:t>
            </a:r>
            <a:r>
              <a:rPr/>
              <a:t>meeting)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Internal-consistency flagging (statcheck-style) is NOT the goal</a:t>
            </a:r>
            <a:r>
              <a:rPr/>
              <a:t> — it’s a fallback signal only.</a:t>
            </a:r>
          </a:p>
          <a:p>
            <a:pPr lvl="1"/>
            <a:r>
              <a:rPr/>
              <a:t>The module must </a:t>
            </a:r>
            <a:r>
              <a:rPr b="1"/>
              <a:t>verify each reported statistic against the authors’ RAW DATA</a:t>
            </a:r>
            <a:r>
              <a:rPr/>
              <a:t>, or explicitly return </a:t>
            </a:r>
            <a:r>
              <a:rPr b="1"/>
              <a:t>“insufficient data to verify”</a:t>
            </a:r>
            <a:r>
              <a:rPr/>
              <a:t> (a first-class result).</a:t>
            </a:r>
          </a:p>
          <a:p>
            <a:pPr lvl="1"/>
            <a:r>
              <a:rPr/>
              <a:t>It must also check </a:t>
            </a:r>
            <a:r>
              <a:rPr b="1"/>
              <a:t>whether the authors’ statistical assumptions actually hold</a:t>
            </a:r>
            <a:r>
              <a:rPr/>
              <a:t> (e.g. normality / variance before a t-test / ANOVA).</a:t>
            </a:r>
          </a:p>
          <a:p>
            <a:pPr lvl="1"/>
            <a:r>
              <a:rPr/>
              <a:t>This is the harder, honest tool — and the one editors/publishers would care about.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Two</a:t>
            </a:r>
            <a:r>
              <a:rPr/>
              <a:t> </a:t>
            </a:r>
            <a:r>
              <a:rPr/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 b="1"/>
              <a:t>Verification engine (the product)</a:t>
            </a:r>
            <a:r>
              <a:rPr/>
              <a:t> — re-run a paper’s statistics on its data → per-claim verdict.</a:t>
            </a:r>
          </a:p>
          <a:p>
            <a:pPr lvl="1">
              <a:buAutoNum type="arabicPeriod"/>
            </a:pPr>
            <a:r>
              <a:rPr b="1"/>
              <a:t>Meta-research census (a parallel paper)</a:t>
            </a:r>
            <a:r>
              <a:rPr/>
              <a:t> — apply the no-data tier at scale to measure how verifiable the open-access literature actually is.</a:t>
            </a:r>
          </a:p>
          <a:p>
            <a:pPr lvl="0" marL="0" indent="0">
              <a:buNone/>
            </a:pPr>
            <a:r>
              <a:rPr/>
              <a:t>Both built on a shared regex extractor + statcheck-style recompute core.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complete</a:t>
            </a:r>
            <a:r>
              <a:rPr/>
              <a:t> </a:t>
            </a:r>
            <a:r>
              <a:rPr/>
              <a:t>workflow</a:t>
            </a:r>
          </a:p>
        </p:txBody>
      </p:sp>
      <p:pic>
        <p:nvPicPr>
          <p:cNvPr descr="/Users/vishalbharti/StickForStats_v1.0_Production/paper/replication/verification/WORKFL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33400" y="1600200"/>
            <a:ext cx="80772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Verifier</a:t>
            </a:r>
            <a:r>
              <a:rPr/>
              <a:t> </a:t>
            </a:r>
            <a:r>
              <a:rPr/>
              <a:t>engine</a:t>
            </a:r>
            <a:r>
              <a:rPr/>
              <a:t> </a:t>
            </a:r>
            <a:r>
              <a:rPr/>
              <a:t>(A)</a:t>
            </a:r>
            <a:r>
              <a:rPr/>
              <a:t> </a:t>
            </a:r>
            <a:r>
              <a:rPr/>
              <a:t>+</a:t>
            </a:r>
            <a:r>
              <a:rPr/>
              <a:t> </a:t>
            </a:r>
            <a:r>
              <a:rPr/>
              <a:t>meta-research</a:t>
            </a:r>
            <a:r>
              <a:rPr/>
              <a:t> </a:t>
            </a:r>
            <a:r>
              <a:rPr/>
              <a:t>census</a:t>
            </a:r>
            <a:r>
              <a:rPr/>
              <a:t> </a:t>
            </a:r>
            <a:r>
              <a:rPr/>
              <a:t>(B),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shared</a:t>
            </a:r>
            <a:r>
              <a:rPr/>
              <a:t> </a:t>
            </a:r>
            <a:r>
              <a:rPr/>
              <a:t>engine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robustness</a:t>
            </a:r>
            <a:r>
              <a:rPr/>
              <a:t> </a:t>
            </a:r>
            <a:r>
              <a:rPr/>
              <a:t>arms.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verdict</a:t>
            </a:r>
            <a:r>
              <a:rPr/>
              <a:t> </a:t>
            </a:r>
            <a:r>
              <a:rPr/>
              <a:t>taxonomy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VERIFIED</a:t>
            </a:r>
            <a:r>
              <a:rPr/>
              <a:t> · </a:t>
            </a:r>
            <a:r>
              <a:rPr>
                <a:latin typeface="Courier"/>
              </a:rPr>
              <a:t>DISCREPANT</a:t>
            </a:r>
            <a:r>
              <a:rPr/>
              <a:t> · </a:t>
            </a:r>
            <a:r>
              <a:rPr>
                <a:latin typeface="Courier"/>
              </a:rPr>
              <a:t>ASSUMPTION_VIOLATED</a:t>
            </a:r>
            <a:r>
              <a:rPr/>
              <a:t> · </a:t>
            </a:r>
            <a:r>
              <a:rPr>
                <a:latin typeface="Courier"/>
              </a:rPr>
              <a:t>ASSUMPTION_UNREPORTED</a:t>
            </a:r>
            <a:r>
              <a:rPr/>
              <a:t> · </a:t>
            </a:r>
            <a:r>
              <a:rPr>
                <a:latin typeface="Courier"/>
              </a:rPr>
              <a:t>INSUFFICIENT_DATA</a:t>
            </a:r>
            <a:r>
              <a:rPr/>
              <a:t> · </a:t>
            </a:r>
            <a:r>
              <a:rPr>
                <a:latin typeface="Courier"/>
              </a:rPr>
              <a:t>UNVERIFIABLE_EXTRACTION</a:t>
            </a:r>
            <a:r>
              <a:rPr/>
              <a:t> (+ secondary </a:t>
            </a:r>
            <a:r>
              <a:rPr>
                <a:latin typeface="Courier"/>
              </a:rPr>
              <a:t>INCONSISTENT_REPORTING</a:t>
            </a:r>
            <a:r>
              <a:rPr/>
              <a:t>)</a:t>
            </a:r>
          </a:p>
          <a:p>
            <a:pPr lvl="1"/>
            <a:r>
              <a:rPr b="1">
                <a:latin typeface="Courier"/>
              </a:rPr>
              <a:t>INSUFFICIENT_DATA</a:t>
            </a:r>
            <a:r>
              <a:rPr b="1"/>
              <a:t> is first-class</a:t>
            </a:r>
            <a:r>
              <a:rPr/>
              <a:t> — most papers land there because raw data are not deposited.</a:t>
            </a:r>
          </a:p>
          <a:p>
            <a:pPr lvl="1"/>
            <a:r>
              <a:rPr/>
              <a:t>All 5 primary verdicts are pinned by a control suite (</a:t>
            </a:r>
            <a:r>
              <a:rPr b="1"/>
              <a:t>T20</a:t>
            </a:r>
            <a:r>
              <a:rPr/>
              <a:t>, the Phase-A exit instrument).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What’s</a:t>
            </a:r>
            <a:r>
              <a:rPr/>
              <a:t> </a:t>
            </a:r>
            <a:r>
              <a:rPr/>
              <a:t>built</a:t>
            </a:r>
            <a:r>
              <a:rPr/>
              <a:t> </a:t>
            </a:r>
            <a:r>
              <a:rPr/>
              <a:t>(engine)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Django REST surface (</a:t>
            </a:r>
            <a:r>
              <a:rPr b="1"/>
              <a:t>T24</a:t>
            </a:r>
            <a:r>
              <a:rPr/>
              <a:t>): </a:t>
            </a:r>
            <a:r>
              <a:rPr>
                <a:latin typeface="Courier"/>
              </a:rPr>
              <a:t>POST /verify/analyze/</a:t>
            </a:r>
            <a:r>
              <a:rPr/>
              <a:t>, token-gated </a:t>
            </a:r>
            <a:r>
              <a:rPr>
                <a:latin typeface="Courier"/>
              </a:rPr>
              <a:t>GET /verify/report/&lt;uuid&gt;</a:t>
            </a:r>
            <a:r>
              <a:rPr/>
              <a:t> — no network egress by default.</a:t>
            </a:r>
          </a:p>
          <a:p>
            <a:pPr lvl="1"/>
            <a:r>
              <a:rPr/>
              <a:t>Persistence (</a:t>
            </a:r>
            <a:r>
              <a:rPr b="1"/>
              <a:t>T10</a:t>
            </a:r>
            <a:r>
              <a:rPr/>
              <a:t>): </a:t>
            </a:r>
            <a:r>
              <a:rPr>
                <a:latin typeface="Courier"/>
              </a:rPr>
              <a:t>VerificationRun</a:t>
            </a:r>
            <a:r>
              <a:rPr/>
              <a:t> / </a:t>
            </a:r>
            <a:r>
              <a:rPr>
                <a:latin typeface="Courier"/>
              </a:rPr>
              <a:t>ClaimVerdictRecord</a:t>
            </a:r>
            <a:r>
              <a:rPr/>
              <a:t> / </a:t>
            </a:r>
            <a:r>
              <a:rPr>
                <a:latin typeface="Courier"/>
              </a:rPr>
              <a:t>LinkedDataset</a:t>
            </a:r>
            <a:r>
              <a:rPr/>
              <a:t>.</a:t>
            </a:r>
          </a:p>
          <a:p>
            <a:pPr lvl="1"/>
            <a:r>
              <a:rPr/>
              <a:t>Genomics auto-linker: a gene-level claim → its GEO data, fully automatic (gene + group resolution, series-matrix alignment). Genome-scale proof on real GSE271517.</a:t>
            </a:r>
          </a:p>
          <a:p>
            <a:pPr lvl="1"/>
            <a:r>
              <a:rPr/>
              <a:t>Benchmarked vs </a:t>
            </a:r>
            <a:r>
              <a:rPr b="1"/>
              <a:t>statcheck 1.5.0</a:t>
            </a:r>
            <a:r>
              <a:rPr/>
              <a:t>: recall </a:t>
            </a:r>
            <a:r>
              <a:rPr b="1"/>
              <a:t>97.7%</a:t>
            </a:r>
            <a:r>
              <a:rPr/>
              <a:t>, precision </a:t>
            </a:r>
            <a:r>
              <a:rPr b="1"/>
              <a:t>98.1%</a:t>
            </a:r>
            <a:r>
              <a:rPr/>
              <a:t>, F1 </a:t>
            </a:r>
            <a:r>
              <a:rPr b="1"/>
              <a:t>97.9%</a:t>
            </a:r>
            <a:r>
              <a:rPr/>
              <a:t>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What’s</a:t>
            </a:r>
            <a:r>
              <a:rPr/>
              <a:t> </a:t>
            </a:r>
            <a:r>
              <a:rPr/>
              <a:t>built</a:t>
            </a:r>
            <a:r>
              <a:rPr/>
              <a:t> </a:t>
            </a:r>
            <a:r>
              <a:rPr/>
              <a:t>(census)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PMC fetcher (NCBI E-utilities, day-clustered random sample) + JATS parser + incremental census.</a:t>
            </a:r>
          </a:p>
          <a:p>
            <a:pPr lvl="1"/>
            <a:r>
              <a:rPr b="1"/>
              <a:t>10,103 OA biomedical papers</a:t>
            </a:r>
            <a:r>
              <a:rPr/>
              <a:t> across 744 random days.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Census</a:t>
            </a:r>
            <a:r>
              <a:rPr/>
              <a:t> </a:t>
            </a:r>
            <a:r>
              <a:rPr/>
              <a:t>headline</a:t>
            </a:r>
            <a:r>
              <a:rPr/>
              <a:t> </a:t>
            </a:r>
            <a:r>
              <a:rPr/>
              <a:t>(10,103</a:t>
            </a:r>
            <a:r>
              <a:rPr/>
              <a:t> </a:t>
            </a:r>
            <a:r>
              <a:rPr/>
              <a:t>papers)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Report</a:t>
                      </a:r>
                      <a:r>
                        <a:rPr/>
                        <a:t> </a:t>
                      </a:r>
                      <a:r>
                        <a:rPr/>
                        <a:t>an</a:t>
                      </a:r>
                      <a:r>
                        <a:rPr/>
                        <a:t> </a:t>
                      </a:r>
                      <a:r>
                        <a:rPr/>
                        <a:t>in-text</a:t>
                      </a:r>
                      <a:r>
                        <a:rPr/>
                        <a:t> </a:t>
                      </a:r>
                      <a:r>
                        <a:rPr b="1"/>
                        <a:t>recomputable</a:t>
                      </a:r>
                      <a:r>
                        <a:rPr/>
                        <a:t> </a:t>
                      </a:r>
                      <a:r>
                        <a:rPr/>
                        <a:t>NHST</a:t>
                      </a:r>
                      <a:r>
                        <a:rPr/>
                        <a:t> </a:t>
                      </a:r>
                      <a:r>
                        <a:rPr/>
                        <a:t>statistic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3.5%</a:t>
                      </a:r>
                      <a:r>
                        <a:rPr/>
                        <a:t> </a:t>
                      </a:r>
                      <a:r>
                        <a:rPr/>
                        <a:t>(most</a:t>
                      </a:r>
                      <a:r>
                        <a:rPr/>
                        <a:t> </a:t>
                      </a:r>
                      <a:r>
                        <a:rPr/>
                        <a:t>stats</a:t>
                      </a:r>
                      <a:r>
                        <a:rPr/>
                        <a:t> </a:t>
                      </a:r>
                      <a:r>
                        <a:rPr/>
                        <a:t>live</a:t>
                      </a:r>
                      <a:r>
                        <a:rPr/>
                        <a:t> </a:t>
                      </a:r>
                      <a:r>
                        <a:rPr/>
                        <a:t>in</a:t>
                      </a:r>
                      <a:r>
                        <a:rPr/>
                        <a:t> </a:t>
                      </a:r>
                      <a:r>
                        <a:rPr/>
                        <a:t>tables/figures)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Of</a:t>
                      </a:r>
                      <a:r>
                        <a:rPr/>
                        <a:t> </a:t>
                      </a:r>
                      <a:r>
                        <a:rPr/>
                        <a:t>checkable</a:t>
                      </a:r>
                      <a:r>
                        <a:rPr/>
                        <a:t> </a:t>
                      </a:r>
                      <a:r>
                        <a:rPr/>
                        <a:t>claims,</a:t>
                      </a:r>
                      <a:r>
                        <a:rPr/>
                        <a:t> </a:t>
                      </a:r>
                      <a:r>
                        <a:rPr/>
                        <a:t>internally</a:t>
                      </a:r>
                      <a:r>
                        <a:rPr/>
                        <a:t> </a:t>
                      </a:r>
                      <a:r>
                        <a:rPr b="1"/>
                        <a:t>inconsistent</a:t>
                      </a:r>
                      <a:r>
                        <a:rPr/>
                        <a:t> </a:t>
                      </a:r>
                      <a:r>
                        <a:rPr/>
                        <a:t>(raw)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11.1%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FP-validated</a:t>
                      </a:r>
                      <a:r>
                        <a:rPr/>
                        <a:t> </a:t>
                      </a:r>
                      <a:r>
                        <a:rPr b="1"/>
                        <a:t>true</a:t>
                      </a:r>
                      <a:r>
                        <a:rPr/>
                        <a:t> </a:t>
                      </a:r>
                      <a:r>
                        <a:rPr/>
                        <a:t>inconsistency</a:t>
                      </a:r>
                      <a:r>
                        <a:rPr/>
                        <a:t> </a:t>
                      </a:r>
                      <a:r>
                        <a:rPr/>
                        <a:t>rate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≈</a:t>
                      </a:r>
                      <a:r>
                        <a:rPr b="1"/>
                        <a:t> </a:t>
                      </a:r>
                      <a:r>
                        <a:rPr b="1"/>
                        <a:t>6–8%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Decision-changing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1.7%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Two robust, novel headlines: (1) only ~3.5% of biomedical OA papers report an in-text recomputable statistic; (2) of those, a single-digit % are genuinely internally inconsistent.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Today’s</a:t>
            </a:r>
            <a:r>
              <a:rPr/>
              <a:t> </a:t>
            </a:r>
            <a:r>
              <a:rPr/>
              <a:t>fix:</a:t>
            </a:r>
            <a:r>
              <a:rPr/>
              <a:t> </a:t>
            </a:r>
            <a:r>
              <a:rPr/>
              <a:t>extractor</a:t>
            </a:r>
            <a:r>
              <a:rPr/>
              <a:t> </a:t>
            </a:r>
            <a:r>
              <a:rPr/>
              <a:t>false</a:t>
            </a:r>
            <a:r>
              <a:rPr/>
              <a:t> </a:t>
            </a:r>
            <a:r>
              <a:rPr/>
              <a:t>positives</a:t>
            </a:r>
            <a:r>
              <a:rPr/>
              <a:t> </a:t>
            </a:r>
            <a:r>
              <a:rPr/>
              <a:t>(the</a:t>
            </a:r>
            <a:r>
              <a:rPr/>
              <a:t> </a:t>
            </a:r>
            <a:r>
              <a:rPr/>
              <a:t>scientific</a:t>
            </a:r>
            <a:r>
              <a:rPr/>
              <a:t> </a:t>
            </a:r>
            <a:r>
              <a:rPr/>
              <a:t>crux)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 dominant census false positive was </a:t>
            </a:r>
            <a:r>
              <a:rPr b="1"/>
              <a:t>5 distinct extractor bugs</a:t>
            </a:r>
            <a:r>
              <a:rPr/>
              <a:t>, not one (each traced to a real PMCID): mis-paired far p · </a:t>
            </a:r>
            <a:r>
              <a:rPr>
                <a:latin typeface="Courier"/>
              </a:rPr>
              <a:t>t(1,644)</a:t>
            </a:r>
            <a:r>
              <a:rPr/>
              <a:t> two-df · effect-size </a:t>
            </a:r>
            <a:r>
              <a:rPr>
                <a:latin typeface="Courier"/>
              </a:rPr>
              <a:t>d_z</a:t>
            </a:r>
            <a:r>
              <a:rPr/>
              <a:t> / </a:t>
            </a:r>
            <a:r>
              <a:rPr>
                <a:latin typeface="Courier"/>
              </a:rPr>
              <a:t>Z(Y)</a:t>
            </a:r>
            <a:r>
              <a:rPr/>
              <a:t> · </a:t>
            </a:r>
            <a:r>
              <a:rPr>
                <a:latin typeface="Courier"/>
              </a:rPr>
              <a:t>p=1</a:t>
            </a:r>
            <a:r>
              <a:rPr/>
              <a:t>→0.1 · semicolon/fractional-df results dropping their p.</a:t>
            </a:r>
          </a:p>
          <a:p>
            <a:pPr lvl="0" marL="0" indent="0">
              <a:buNone/>
            </a:pPr>
            <a:r>
              <a:rPr b="1"/>
              <a:t>Apples-to-apples on the same 10,103 papers (pre-fix via </a:t>
            </a:r>
            <a:r>
              <a:rPr b="1">
                <a:latin typeface="Courier"/>
              </a:rPr>
              <a:t>git stash</a:t>
            </a:r>
            <a:r>
              <a:rPr b="1"/>
              <a:t>):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PRE-FIX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POST-FIX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FP_MISEXTRACTION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157</a:t>
                      </a:r>
                      <a:r>
                        <a:rPr/>
                        <a:t> </a:t>
                      </a:r>
                      <a:r>
                        <a:rPr/>
                        <a:t>(35%</a:t>
                      </a:r>
                      <a:r>
                        <a:rPr/>
                        <a:t> </a:t>
                      </a:r>
                      <a:r>
                        <a:rPr/>
                        <a:t>of</a:t>
                      </a:r>
                      <a:r>
                        <a:rPr/>
                        <a:t> </a:t>
                      </a:r>
                      <a:r>
                        <a:rPr/>
                        <a:t>flags)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Inconsistent</a:t>
                      </a:r>
                      <a:r>
                        <a:rPr/>
                        <a:t> </a:t>
                      </a:r>
                      <a:r>
                        <a:rPr/>
                        <a:t>(raw)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14.5%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11.1%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Decision-changing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4.2%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1.7%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Clear</a:t>
                      </a:r>
                      <a:r>
                        <a:rPr/>
                        <a:t> </a:t>
                      </a:r>
                      <a:r>
                        <a:rPr/>
                        <a:t>false-positive</a:t>
                      </a:r>
                      <a:r>
                        <a:rPr/>
                        <a:t> </a:t>
                      </a:r>
                      <a:r>
                        <a:rPr/>
                        <a:t>rate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14%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No statcheck regression; +26 regression tests (each tied to a real PMCID).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Robustness</a:t>
            </a:r>
            <a:r>
              <a:rPr/>
              <a:t> </a:t>
            </a:r>
            <a:r>
              <a:rPr/>
              <a:t>(already</a:t>
            </a:r>
            <a:r>
              <a:rPr/>
              <a:t> </a:t>
            </a:r>
            <a:r>
              <a:rPr/>
              <a:t>done)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IPW (inverse-probability weighting):</a:t>
            </a:r>
            <a:r>
              <a:rPr/>
              <a:t> correcting the day-cluster design — same population, no new fetch — moves the headline ≤ 0.6 pp (inconsistent 11.1%→10.5%). </a:t>
            </a:r>
            <a:r>
              <a:rPr b="1"/>
              <a:t>Day-clustering did not bias the rate.</a:t>
            </a:r>
          </a:p>
          <a:p>
            <a:pPr lvl="1"/>
            <a:r>
              <a:rPr b="1"/>
              <a:t>Adversarial review:</a:t>
            </a:r>
            <a:r>
              <a:rPr/>
              <a:t> 21-agent workflow → verdict </a:t>
            </a:r>
            <a:r>
              <a:rPr b="1"/>
              <a:t>SAFE</a:t>
            </a:r>
            <a:r>
              <a:rPr/>
              <a:t>; 4 minor follow-ups found + fixed; the precision wins (window / directionality / df-guard) confirmed to lose zero genuine inconsistencies.</a:t>
            </a:r>
          </a:p>
          <a:p>
            <a:pPr lvl="1"/>
            <a:r>
              <a:rPr b="1"/>
              <a:t>Independent OA-web-service frame</a:t>
            </a:r>
            <a:r>
              <a:rPr/>
              <a:t> (</a:t>
            </a:r>
            <a:r>
              <a:rPr>
                <a:latin typeface="Courier"/>
              </a:rPr>
              <a:t>oa_pilot.py</a:t>
            </a:r>
            <a:r>
              <a:rPr/>
              <a:t>): implemented; a generalizability pilot is accumulating (directional — the same-population robustness is the IPW result).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Verifier module Phase A: 18/24</a:t>
            </a:r>
            <a:r>
              <a:rPr/>
              <a:t> (T20 added today). Remaining engineering: T07/T08/T16/T17/T18 (provenance, consistency-demote, effect-size normalization, assumption-unreported detector).</a:t>
            </a:r>
          </a:p>
          <a:p>
            <a:pPr lvl="1"/>
            <a:r>
              <a:rPr/>
              <a:t>All work </a:t>
            </a:r>
            <a:r>
              <a:rPr b="1"/>
              <a:t>committed + pushed</a:t>
            </a:r>
            <a:r>
              <a:rPr/>
              <a:t> to </a:t>
            </a:r>
            <a:r>
              <a:rPr>
                <a:latin typeface="Courier"/>
              </a:rPr>
              <a:t>origin/docs/plos-compbio-submission</a:t>
            </a:r>
            <a:r>
              <a:rPr/>
              <a:t> (not merged to </a:t>
            </a:r>
            <a:r>
              <a:rPr>
                <a:latin typeface="Courier"/>
              </a:rPr>
              <a:t>main</a:t>
            </a:r>
            <a:r>
              <a:rPr/>
              <a:t>).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Decisions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 b="1"/>
              <a:t>OSF pre-registration</a:t>
            </a:r>
            <a:r>
              <a:rPr/>
              <a:t> — resolve the 10 </a:t>
            </a:r>
            <a:r>
              <a:rPr>
                <a:latin typeface="Courier"/>
              </a:rPr>
              <a:t>[PI DECISION]</a:t>
            </a:r>
            <a:r>
              <a:rPr/>
              <a:t> items in §11 of the draft (year window, field scope, target N, the two human coders, DISCREPANT tolerance, κ threshold, …) before the FORMAL confirmatory census.</a:t>
            </a:r>
          </a:p>
          <a:p>
            <a:pPr lvl="1">
              <a:buAutoNum type="arabicPeriod"/>
            </a:pPr>
            <a:r>
              <a:rPr b="1"/>
              <a:t>Venue</a:t>
            </a:r>
            <a:r>
              <a:rPr/>
              <a:t> for the census paper (PLOS ONE / PeerJ / GigaByte / BMC Bioinformatics — soundness-not-novelty).</a:t>
            </a:r>
          </a:p>
          <a:p>
            <a:pPr lvl="1">
              <a:buAutoNum type="arabicPeriod"/>
            </a:pPr>
            <a:r>
              <a:rPr b="1"/>
              <a:t>κ double-coding</a:t>
            </a:r>
            <a:r>
              <a:rPr/>
              <a:t> — assign 2 human coders for a gold subset.</a:t>
            </a:r>
          </a:p>
          <a:p>
            <a:pPr lvl="1">
              <a:buAutoNum type="arabicPeriod"/>
            </a:pPr>
            <a:r>
              <a:rPr b="1"/>
              <a:t>bioRxiv v2</a:t>
            </a:r>
            <a:r>
              <a:rPr/>
              <a:t> — the Case Study 4 “Group B” correction (still gated).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read</a:t>
            </a:r>
            <a:r>
              <a:rPr/>
              <a:t> </a:t>
            </a:r>
            <a:r>
              <a:rPr/>
              <a:t>(in</a:t>
            </a:r>
            <a:r>
              <a:rPr/>
              <a:t> </a:t>
            </a:r>
            <a:r>
              <a:rPr/>
              <a:t>order)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>
                <a:latin typeface="Courier"/>
              </a:rPr>
              <a:t>docs/MANUSCRIPT_MODULE_PLAN_2026-06-24.md</a:t>
            </a:r>
            <a:r>
              <a:rPr/>
              <a:t> — the design + the lab steer.</a:t>
            </a:r>
          </a:p>
          <a:p>
            <a:pPr lvl="1">
              <a:buAutoNum type="arabicPeriod"/>
            </a:pPr>
            <a:r>
              <a:rPr>
                <a:latin typeface="Courier"/>
              </a:rPr>
              <a:t>paper/replication/verification/REPRODUCTION.md</a:t>
            </a:r>
            <a:r>
              <a:rPr/>
              <a:t> — reproduce everything end-to-end.</a:t>
            </a:r>
          </a:p>
          <a:p>
            <a:pPr lvl="1">
              <a:buAutoNum type="arabicPeriod"/>
            </a:pPr>
            <a:r>
              <a:rPr>
                <a:latin typeface="Courier"/>
              </a:rPr>
              <a:t>CENSUS_REPORT_LARGE</a:t>
            </a:r>
            <a:r>
              <a:rPr/>
              <a:t> + </a:t>
            </a:r>
            <a:r>
              <a:rPr>
                <a:latin typeface="Courier"/>
              </a:rPr>
              <a:t>FP_VALIDATION_REPORT</a:t>
            </a:r>
            <a:r>
              <a:rPr/>
              <a:t> + </a:t>
            </a:r>
            <a:r>
              <a:rPr>
                <a:latin typeface="Courier"/>
              </a:rPr>
              <a:t>CENSUS_IPW_REPORT</a:t>
            </a:r>
            <a:r>
              <a:rPr/>
              <a:t> — the numbers.</a:t>
            </a:r>
          </a:p>
          <a:p>
            <a:pPr lvl="1">
              <a:buAutoNum type="arabicPeriod"/>
            </a:pPr>
            <a:r>
              <a:rPr>
                <a:latin typeface="Courier"/>
              </a:rPr>
              <a:t>docs/SESSION_HANDOFF_2026-06-26.md</a:t>
            </a:r>
            <a:r>
              <a:rPr/>
              <a:t> — today’s fix in full.</a:t>
            </a:r>
          </a:p>
          <a:p>
            <a:pPr lvl="1">
              <a:buAutoNum type="arabicPeriod"/>
            </a:pPr>
            <a:r>
              <a:rPr>
                <a:latin typeface="Courier"/>
              </a:rPr>
              <a:t>docs/MANUSCRIPT_VERIFY_OSF_PREREG_DRAFT_2026-06-25.md</a:t>
            </a:r>
            <a:r>
              <a:rPr/>
              <a:t> — the PI decisions.</a:t>
            </a:r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321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12121"/>
                </a:solidFill>
              </a:rPr>
              <a:t>Corpus funnel (10,200 → 341)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217920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555555"/>
                </a:solidFill>
              </a:rPr>
              <a:t>10,200 enumerated → 10,103 with body → 1,939 with a test claim → 341 with a checkable claim.</a:t>
            </a:r>
          </a:p>
        </p:txBody>
      </p:sp>
      <p:pic>
        <p:nvPicPr>
          <p:cNvPr id="4" name="Picture 3" descr="fig1_corpus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6996"/>
            <a:ext cx="8229600" cy="356688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321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12121"/>
                </a:solidFill>
              </a:rPr>
              <a:t>Outcome over 3,005 checkable claims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217920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555555"/>
                </a:solidFill>
              </a:rPr>
              <a:t>Consistent vs inconsistent (333, 11.1%) vs decision-changing (52, 1.7%).</a:t>
            </a:r>
          </a:p>
        </p:txBody>
      </p:sp>
      <p:pic>
        <p:nvPicPr>
          <p:cNvPr id="4" name="Picture 3" descr="fig2_headline_out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37825"/>
            <a:ext cx="8229600" cy="31652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321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12121"/>
                </a:solidFill>
              </a:rPr>
              <a:t>Reported vs recomputed p (333 flags)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217920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555555"/>
                </a:solidFill>
              </a:rPr>
              <a:t>Log-log; ★ = decision-changing; colored by false-positive category.</a:t>
            </a:r>
          </a:p>
        </p:txBody>
      </p:sp>
      <p:pic>
        <p:nvPicPr>
          <p:cNvPr id="4" name="Picture 3" descr="fig4_reported_vs_recomputed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201" y="960120"/>
            <a:ext cx="5011597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321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12121"/>
                </a:solidFill>
              </a:rPr>
              <a:t>False-positive validation of the 333 flags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217920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555555"/>
                </a:solidFill>
              </a:rPr>
              <a:t>TRUE_LIKELY 262 · REVIEW 25 · one-tailed 46 · mis-extraction 0 (was 157).</a:t>
            </a:r>
          </a:p>
        </p:txBody>
      </p:sp>
      <p:pic>
        <p:nvPicPr>
          <p:cNvPr id="4" name="Picture 3" descr="fig3_fp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62" y="960120"/>
            <a:ext cx="8025675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321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12121"/>
                </a:solidFill>
              </a:rPr>
              <a:t>The rate is single-digit across every 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217920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555555"/>
                </a:solidFill>
              </a:rPr>
              <a:t>Raw 11.1% · IPW 10.5% · likely-true 8.7% · independent OA 5.6%.</a:t>
            </a:r>
          </a:p>
        </p:txBody>
      </p:sp>
      <p:pic>
        <p:nvPicPr>
          <p:cNvPr id="4" name="Picture 3" descr="fig6_rate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32" y="960120"/>
            <a:ext cx="8032736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321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12121"/>
                </a:solidFill>
              </a:rPr>
              <a:t>Flagged inconsistencies by statistic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217920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555555"/>
                </a:solidFill>
              </a:rPr>
              <a:t>t / F / r / z / chi-square — all flagged vs likely-true.</a:t>
            </a:r>
          </a:p>
        </p:txBody>
      </p:sp>
      <p:pic>
        <p:nvPicPr>
          <p:cNvPr id="4" name="Picture 3" descr="fig5_by_statistic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31774"/>
            <a:ext cx="8229600" cy="49773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Manuscript-Verification Module + Meta-Research Census</dc:title>
  <dc:creator>Vishal Bharti · PI: Debojyoti Chakraborty (CSIR-IGIB)</dc:creator>
  <cp:keywords/>
  <dcterms:created xsi:type="dcterms:W3CDTF">2026-06-26T11:52:29Z</dcterms:created>
  <dcterms:modified xsi:type="dcterms:W3CDTF">2026-06-26T11:52:29Z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2026-06-26</vt:lpwstr>
  </property>
  <property fmtid="{D5CDD505-2E9C-101B-9397-08002B2CF9AE}" pid="3" name="subtitle">
    <vt:lpwstr>Status briefing — 2026-06-26</vt:lpwstr>
  </property>
</Properties>
</file>