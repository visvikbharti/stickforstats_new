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StickForStats v1.0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Mandatory Statistical Assumption Validation</a:t>
            </a:r>
          </a:p>
          <a:p>
            <a:r>
              <a:t>for Reproducible Science</a:t>
            </a:r>
          </a:p>
          <a:p/>
          <a:p>
            <a:r>
              <a:t>Lab Meeting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Reproducibility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70% of researchers failed to reproduce others' experiments (Baker, Nature 2016)</a:t>
            </a:r>
          </a:p>
          <a:p>
            <a:pPr/>
            <a:r>
              <a:t>50% failed to reproduce their own work</a:t>
            </a:r>
          </a:p>
          <a:p>
            <a:pPr/>
            <a:r>
              <a:t>50% of reproducibility failures due to poor statistical analysis</a:t>
            </a:r>
          </a:p>
          <a:p>
            <a:pPr/>
            <a:r>
              <a:t>"Most published research findings are false" (Ioannidis, 2005)</a:t>
            </a:r>
          </a:p>
          <a:p>
            <a:pPr/>
          </a:p>
          <a:p>
            <a:pPr/>
            <a:r>
              <a:t>ROOT CAUSE: Current tools make assumption checking OPTIONAL</a:t>
            </a:r>
          </a:p>
          <a:p>
            <a:pPr lvl="1"/>
            <a:r>
              <a:t>SPSS, R, GraphPad all have assumption tests</a:t>
            </a:r>
          </a:p>
          <a:p>
            <a:pPr lvl="1"/>
            <a:r>
              <a:t>But researchers can skip them</a:t>
            </a:r>
          </a:p>
          <a:p>
            <a:pPr lvl="1"/>
            <a:r>
              <a:t>Results get published without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The Guardian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 Contract:</a:t>
            </a:r>
          </a:p>
          <a:p>
            <a:pPr/>
            <a:r>
              <a:t>"No statistical result may exist without an explicit, traceable assumption context"</a:t>
            </a:r>
          </a:p>
          <a:p>
            <a:pPr/>
          </a:p>
          <a:p>
            <a:pPr/>
            <a:r>
              <a:t>How it works:</a:t>
            </a:r>
          </a:p>
          <a:p>
            <a:pPr lvl="1"/>
            <a:r>
              <a:t>Every test AUTOMATICALLY validates assumptions FIRST</a:t>
            </a:r>
          </a:p>
          <a:p>
            <a:pPr lvl="1"/>
            <a:r>
              <a:t>Results CANNOT be shown without assumption status</a:t>
            </a:r>
          </a:p>
          <a:p>
            <a:pPr lvl="1"/>
            <a:r>
              <a:t>Violations categorized by severity (critical/warning/minor)</a:t>
            </a:r>
          </a:p>
          <a:p>
            <a:pPr lvl="1"/>
            <a:r>
              <a:t>Alternative tests suggested when assumptions fail</a:t>
            </a:r>
          </a:p>
          <a:p>
            <a:pPr lvl="1"/>
            <a:r>
              <a:t>Complete audit trail for reproducibility</a:t>
            </a:r>
          </a:p>
          <a:p>
            <a:pPr/>
          </a:p>
          <a:p>
            <a:pPr/>
            <a:r>
              <a:t>THE KEY INNOVATION: We make assumption checking MANDATORY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8 Guardian Validators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Normality - Shapiro-Wilk, Anderson-Darling</a:t>
            </a:r>
          </a:p>
          <a:p>
            <a:pPr/>
            <a:r>
              <a:t>2. Variance Homogeneity - Levene's test</a:t>
            </a:r>
          </a:p>
          <a:p>
            <a:pPr/>
            <a:r>
              <a:t>3. Independence - Autocorrelation analysis</a:t>
            </a:r>
          </a:p>
          <a:p>
            <a:pPr/>
            <a:r>
              <a:t>4. Outliers - IQR + Z-score methods</a:t>
            </a:r>
          </a:p>
          <a:p>
            <a:pPr/>
            <a:r>
              <a:t>5. Sample Size - Evidence-based thresholds</a:t>
            </a:r>
          </a:p>
          <a:p>
            <a:pPr/>
            <a:r>
              <a:t>6. Modality - KDE peak detection</a:t>
            </a:r>
          </a:p>
          <a:p>
            <a:pPr/>
            <a:r>
              <a:t>7. Linearity - Residual analysis</a:t>
            </a:r>
          </a:p>
          <a:p>
            <a:pPr/>
            <a:r>
              <a:t>8. Homoscedasticity - Breusch-Pagan test</a:t>
            </a:r>
          </a:p>
          <a:p>
            <a:pPr/>
          </a:p>
          <a:p>
            <a:pPr/>
            <a:r>
              <a:t>All validated against R packages - nothing invented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1: T-Test with Guardian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STEPS:</a:t>
            </a:r>
          </a:p>
          <a:p>
            <a:pPr lvl="1"/>
            <a:r>
              <a:t>1. Navigate to Statistical Analysis &gt; T-Tests</a:t>
            </a:r>
          </a:p>
          <a:p>
            <a:pPr lvl="1"/>
            <a:r>
              <a:t>2. Load example dataset (Anxiety Scores)</a:t>
            </a:r>
          </a:p>
          <a:p>
            <a:pPr lvl="1"/>
            <a:r>
              <a:t>3. Run Independent Samples T-Test</a:t>
            </a:r>
          </a:p>
          <a:p>
            <a:pPr lvl="1"/>
            <a:r>
              <a:t>4. SHOW: Guardian report appears automatically</a:t>
            </a:r>
          </a:p>
          <a:p>
            <a:pPr/>
          </a:p>
          <a:p>
            <a:pPr/>
            <a:r>
              <a:t>KEY POINTS TO HIGHLIGHT:</a:t>
            </a:r>
          </a:p>
          <a:p>
            <a:pPr lvl="1"/>
            <a:r>
              <a:t>Report appears AUTOMATICALLY</a:t>
            </a:r>
          </a:p>
          <a:p>
            <a:pPr lvl="1"/>
            <a:r>
              <a:t>P-value shown WITH assumption context</a:t>
            </a:r>
          </a:p>
          <a:p>
            <a:pPr lvl="1"/>
            <a:r>
              <a:t>Cannot skip or ignore validation</a:t>
            </a:r>
          </a:p>
          <a:p>
            <a:pPr lvl="1"/>
            <a:r>
              <a:t>Alternatives suggested if violated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Statistical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86 Backend Modules | 14 Frontend Modules</a:t>
            </a:r>
          </a:p>
          <a:p>
            <a:pPr/>
          </a:p>
          <a:p>
            <a:pPr/>
            <a:r>
              <a:t>Core Tests:</a:t>
            </a:r>
          </a:p>
          <a:p>
            <a:pPr lvl="1"/>
            <a:r>
              <a:t>T-tests, ANOVA, Correlations, Chi-square, Non-parametric</a:t>
            </a:r>
          </a:p>
          <a:p>
            <a:pPr/>
          </a:p>
          <a:p>
            <a:pPr/>
            <a:r>
              <a:t>Advanced Methods:</a:t>
            </a:r>
          </a:p>
          <a:p>
            <a:pPr lvl="1"/>
            <a:r>
              <a:t>Bayesian Statistics - JZS t-tests, Bayes Factors (Rouder et al. 2009)</a:t>
            </a:r>
          </a:p>
          <a:p>
            <a:pPr lvl="1"/>
            <a:r>
              <a:t>Mixed Models - LMM, ICC (6 types)</a:t>
            </a:r>
          </a:p>
          <a:p>
            <a:pPr lvl="1"/>
            <a:r>
              <a:t>Causal Inference - DAGs, propensity scores, ATE/ATT, mediation</a:t>
            </a:r>
          </a:p>
          <a:p>
            <a:pPr lvl="1"/>
            <a:r>
              <a:t>Meta-Analysis - Forest plots, heterogeneity, publication bias</a:t>
            </a:r>
          </a:p>
          <a:p>
            <a:pPr lvl="1"/>
            <a:r>
              <a:t>P-Curve Analysis - Simonsohn et al. 2014, 2015</a:t>
            </a:r>
          </a:p>
          <a:p>
            <a:pPr/>
          </a:p>
          <a:p>
            <a:pPr/>
            <a:r>
              <a:t>All methods cite peer-reviewed literature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50-Decimal Precision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Validation Against Reference Standards:</a:t>
            </a:r>
          </a:p>
          <a:p>
            <a:pPr/>
          </a:p>
          <a:p>
            <a:pPr lvl="1"/>
            <a:r>
              <a:t>T-test statistic vs scipy.stats: 16 decimal places match</a:t>
            </a:r>
          </a:p>
          <a:p>
            <a:pPr lvl="1"/>
            <a:r>
              <a:t>ANOVA F-statistic vs scipy.stats: 14 decimal places match</a:t>
            </a:r>
          </a:p>
          <a:p>
            <a:pPr lvl="1"/>
            <a:r>
              <a:t>Correlation r vs scipy.stats: 16 decimal places match</a:t>
            </a:r>
          </a:p>
          <a:p>
            <a:pPr lvl="1"/>
            <a:r>
              <a:t>Power analysis vs G*Power 3.1.9.7: Within 5%</a:t>
            </a:r>
          </a:p>
          <a:p>
            <a:pPr lvl="1"/>
            <a:r>
              <a:t>Effect sizes vs R effectsize: Within 0.05</a:t>
            </a:r>
          </a:p>
          <a:p>
            <a:pPr lvl="1"/>
            <a:r>
              <a:t>ICC vs R psych package: Exact match</a:t>
            </a:r>
          </a:p>
          <a:p>
            <a:pPr/>
          </a:p>
          <a:p>
            <a:pPr/>
            <a:r>
              <a:t>This precision enables exact reproducibility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2: Causal Inference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STEPS:</a:t>
            </a:r>
          </a:p>
          <a:p>
            <a:pPr lvl="1"/>
            <a:r>
              <a:t>1. Navigate to Causal Inference module</a:t>
            </a:r>
          </a:p>
          <a:p>
            <a:pPr lvl="1"/>
            <a:r>
              <a:t>2. Build DAG: Treatment → Outcome + Confounder</a:t>
            </a:r>
          </a:p>
          <a:p>
            <a:pPr lvl="1"/>
            <a:r>
              <a:t>3. Click Analyze to identify adjustment sets</a:t>
            </a:r>
          </a:p>
          <a:p>
            <a:pPr lvl="1"/>
            <a:r>
              <a:t>4. Show backdoor path detection</a:t>
            </a:r>
          </a:p>
          <a:p>
            <a:pPr/>
          </a:p>
          <a:p>
            <a:pPr/>
            <a:r>
              <a:t>KEY POINTS TO HIGHLIGHT:</a:t>
            </a:r>
          </a:p>
          <a:p>
            <a:pPr lvl="1"/>
            <a:r>
              <a:t>Uses Pearl's d-separation algorithm</a:t>
            </a:r>
          </a:p>
          <a:p>
            <a:pPr lvl="1"/>
            <a:r>
              <a:t>Real graph theory computation</a:t>
            </a:r>
          </a:p>
          <a:p>
            <a:pPr lvl="1"/>
            <a:r>
              <a:t>Automatic confounder identification</a:t>
            </a:r>
          </a:p>
          <a:p>
            <a:pPr lvl="1"/>
            <a:r>
              <a:t>Not simulation - actual causal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Education: 58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embedded in the analysis workflow</a:t>
            </a:r>
          </a:p>
          <a:p>
            <a:pPr/>
          </a:p>
          <a:p>
            <a:pPr/>
            <a:r>
              <a:t>PCA (10 lessons): Eigenvalues, SVD, Kernel PCA</a:t>
            </a:r>
          </a:p>
          <a:p>
            <a:pPr/>
            <a:r>
              <a:t>Confidence Intervals (8 lessons): Bootstrap, BCa, Bayesian</a:t>
            </a:r>
          </a:p>
          <a:p>
            <a:pPr/>
            <a:r>
              <a:t>Power Analysis (11 lessons): Effect sizes, sample planning</a:t>
            </a:r>
          </a:p>
          <a:p>
            <a:pPr/>
            <a:r>
              <a:t>Biophysics (9 lessons): Enzyme kinetics, binding affinity</a:t>
            </a:r>
          </a:p>
          <a:p>
            <a:pPr/>
            <a:r>
              <a:t>Design of Experiments (8 lessons): Factorial, response surface</a:t>
            </a:r>
          </a:p>
          <a:p>
            <a:pPr/>
            <a:r>
              <a:t>Probability (6 lessons): Distributions, CLT</a:t>
            </a:r>
          </a:p>
          <a:p>
            <a:pPr/>
            <a:r>
              <a:t>SQC (6 lessons): Control charts, capability</a:t>
            </a:r>
          </a:p>
          <a:p>
            <a:pPr/>
          </a:p>
          <a:p>
            <a:pPr/>
            <a:r>
              <a:t>Features: D3.js visualizations, MathJax formulas, progress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3: PCA Interactive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STEPS:</a:t>
            </a:r>
          </a:p>
          <a:p>
            <a:pPr lvl="1"/>
            <a:r>
              <a:t>1. Navigate to PCA Learning Hub</a:t>
            </a:r>
          </a:p>
          <a:p>
            <a:pPr lvl="1"/>
            <a:r>
              <a:t>2. Open Lesson 5: Eigendecomposition</a:t>
            </a:r>
          </a:p>
          <a:p>
            <a:pPr lvl="1"/>
            <a:r>
              <a:t>3. Show interactive 2D data plot</a:t>
            </a:r>
          </a:p>
          <a:p>
            <a:pPr lvl="1"/>
            <a:r>
              <a:t>4. DRAG a data point</a:t>
            </a:r>
          </a:p>
          <a:p>
            <a:pPr lvl="1"/>
            <a:r>
              <a:t>5. Watch covariance matrix update real-time</a:t>
            </a:r>
          </a:p>
          <a:p>
            <a:pPr/>
          </a:p>
          <a:p>
            <a:pPr/>
            <a:r>
              <a:t>KEY POINTS TO HIGHLIGHT:</a:t>
            </a:r>
          </a:p>
          <a:p>
            <a:pPr lvl="1"/>
            <a:r>
              <a:t>Real mathematical computation</a:t>
            </a:r>
          </a:p>
          <a:p>
            <a:pPr lvl="1"/>
            <a:r>
              <a:t>Closed-form 2x2 eigenvalue solution</a:t>
            </a:r>
          </a:p>
          <a:p>
            <a:pPr lvl="1"/>
            <a:r>
              <a:t>Not animation tricks - actual linear algebra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Statistical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Claude-powered guidance for researchers</a:t>
            </a:r>
          </a:p>
          <a:p>
            <a:pPr/>
          </a:p>
          <a:p>
            <a:pPr/>
            <a:r>
              <a:t>Capabilities:</a:t>
            </a:r>
          </a:p>
          <a:p>
            <a:pPr lvl="1"/>
            <a:r>
              <a:t>Test recommendation based on research question</a:t>
            </a:r>
          </a:p>
          <a:p>
            <a:pPr lvl="1"/>
            <a:r>
              <a:t>Plain-language result interpretation</a:t>
            </a:r>
          </a:p>
          <a:p>
            <a:pPr lvl="1"/>
            <a:r>
              <a:t>APA 7th edition Methods section generation</a:t>
            </a:r>
          </a:p>
          <a:p>
            <a:pPr lvl="1"/>
            <a:r>
              <a:t>Assumption violation remediation advice</a:t>
            </a:r>
          </a:p>
          <a:p>
            <a:pPr/>
          </a:p>
          <a:p>
            <a:pPr/>
            <a:r>
              <a:t>NLP Features:</a:t>
            </a:r>
          </a:p>
          <a:p>
            <a:pPr lvl="1"/>
            <a:r>
              <a:t>13 intent types (comparison, relationship, prediction...)</a:t>
            </a:r>
          </a:p>
          <a:p>
            <a:pPr lvl="1"/>
            <a:r>
              <a:t>12 analysis patterns recognized</a:t>
            </a:r>
          </a:p>
          <a:p>
            <a:pPr lvl="1"/>
            <a:r>
              <a:t>Multi-step query parsing</a:t>
            </a:r>
          </a:p>
          <a:p>
            <a:pPr/>
          </a:p>
          <a:p>
            <a:pPr/>
            <a:r>
              <a:t>Scientific Integrity: Low temperature (0.3), warns against p-hacking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4: AI Statistical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STEPS:</a:t>
            </a:r>
          </a:p>
          <a:p>
            <a:pPr lvl="1"/>
            <a:r>
              <a:t>1. Open AI Advisor chat panel</a:t>
            </a:r>
          </a:p>
          <a:p>
            <a:pPr lvl="1"/>
            <a:r>
              <a:t>2. Ask: "Compare anxiety scores between groups"</a:t>
            </a:r>
          </a:p>
          <a:p>
            <a:pPr lvl="1"/>
            <a:r>
              <a:t>3. Show response with test recommendation</a:t>
            </a:r>
          </a:p>
          <a:p>
            <a:pPr lvl="1"/>
            <a:r>
              <a:t>4. Ask: "Generate APA methods section"</a:t>
            </a:r>
          </a:p>
          <a:p>
            <a:pPr lvl="1"/>
            <a:r>
              <a:t>5. Show formatted publication-ready output</a:t>
            </a:r>
          </a:p>
          <a:p>
            <a:pPr/>
          </a:p>
          <a:p>
            <a:pPr/>
            <a:r>
              <a:t>KEY POINTS TO HIGHLIGHT:</a:t>
            </a:r>
          </a:p>
          <a:p>
            <a:pPr lvl="1"/>
            <a:r>
              <a:t>Real Claude AI - not canned responses</a:t>
            </a:r>
          </a:p>
          <a:p>
            <a:pPr lvl="1"/>
            <a:r>
              <a:t>Cites Cohen's benchmarks</a:t>
            </a:r>
          </a:p>
          <a:p>
            <a:pPr lvl="1"/>
            <a:r>
              <a:t>Warns against bad practices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Pre-Registration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Pre-Registration Assistant:</a:t>
            </a:r>
          </a:p>
          <a:p>
            <a:pPr lvl="1"/>
            <a:r>
              <a:t>7-step workflow</a:t>
            </a:r>
          </a:p>
          <a:p>
            <a:pPr lvl="1"/>
            <a:r>
              <a:t>OSF Prereg and AsPredicted export</a:t>
            </a:r>
          </a:p>
          <a:p>
            <a:pPr lvl="1"/>
            <a:r>
              <a:t>Guardian integration validates analysis plan</a:t>
            </a:r>
          </a:p>
          <a:p>
            <a:pPr/>
          </a:p>
          <a:p>
            <a:pPr/>
            <a:r>
              <a:t>Reproducibility Bundle Contains:</a:t>
            </a:r>
          </a:p>
          <a:p>
            <a:pPr lvl="1"/>
            <a:r>
              <a:t>Data fingerprint (SHA-256 hash)</a:t>
            </a:r>
          </a:p>
          <a:p>
            <a:pPr lvl="1"/>
            <a:r>
              <a:t>All random seeds captured</a:t>
            </a:r>
          </a:p>
          <a:p>
            <a:pPr lvl="1"/>
            <a:r>
              <a:t>Every transformation step recorded</a:t>
            </a:r>
          </a:p>
          <a:p>
            <a:pPr lvl="1"/>
            <a:r>
              <a:t>Decision points documented</a:t>
            </a:r>
          </a:p>
          <a:p>
            <a:pPr lvl="1"/>
            <a:r>
              <a:t>Auto-generated Methods section</a:t>
            </a:r>
          </a:p>
          <a:p>
            <a:pPr/>
          </a:p>
          <a:p>
            <a:pPr/>
            <a:r>
              <a:t>Export: JSON, PDF, Python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5: Complete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STEPS:</a:t>
            </a:r>
          </a:p>
          <a:p>
            <a:pPr lvl="1"/>
            <a:r>
              <a:t>1. Upload data with intentional outlier</a:t>
            </a:r>
          </a:p>
          <a:p>
            <a:pPr lvl="1"/>
            <a:r>
              <a:t>2. Run T-Test → Guardian WARNING appears</a:t>
            </a:r>
          </a:p>
          <a:p>
            <a:pPr lvl="1"/>
            <a:r>
              <a:t>3. Show confidence score drop</a:t>
            </a:r>
          </a:p>
          <a:p>
            <a:pPr lvl="1"/>
            <a:r>
              <a:t>4. View recommendations (robust/non-parametric)</a:t>
            </a:r>
          </a:p>
          <a:p>
            <a:pPr lvl="1"/>
            <a:r>
              <a:t>5. Run Mann-Whitney U as alternative</a:t>
            </a:r>
          </a:p>
          <a:p>
            <a:pPr lvl="1"/>
            <a:r>
              <a:t>6. Generate reproducibility report</a:t>
            </a:r>
          </a:p>
          <a:p>
            <a:pPr/>
          </a:p>
          <a:p>
            <a:pPr/>
            <a:r>
              <a:t>KEY POINTS:</a:t>
            </a:r>
          </a:p>
          <a:p>
            <a:pPr lvl="1"/>
            <a:r>
              <a:t>Guardian catches outlier automatically</a:t>
            </a:r>
          </a:p>
          <a:p>
            <a:pPr lvl="1"/>
            <a:r>
              <a:t>Cannot ignore and publish</a:t>
            </a:r>
          </a:p>
          <a:p>
            <a:pPr lvl="1"/>
            <a:r>
              <a:t>Complete audit trail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Parser: Statistical Quality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manuscripts for statistical reporting quality</a:t>
            </a:r>
          </a:p>
          <a:p>
            <a:pPr/>
          </a:p>
          <a:p>
            <a:pPr/>
            <a:r>
              <a:t>What It Checks:</a:t>
            </a:r>
          </a:p>
          <a:p>
            <a:pPr lvl="1"/>
            <a:r>
              <a:t>P-value reporting (notation, suspicious patterns)</a:t>
            </a:r>
          </a:p>
          <a:p>
            <a:pPr lvl="1"/>
            <a:r>
              <a:t>Effect size reporting (present/absent)</a:t>
            </a:r>
          </a:p>
          <a:p>
            <a:pPr lvl="1"/>
            <a:r>
              <a:t>Sample size transparency</a:t>
            </a:r>
          </a:p>
          <a:p>
            <a:pPr lvl="1"/>
            <a:r>
              <a:t>Multiple comparison corrections</a:t>
            </a:r>
          </a:p>
          <a:p>
            <a:pPr lvl="1"/>
            <a:r>
              <a:t>Assumption documentation</a:t>
            </a:r>
          </a:p>
          <a:p>
            <a:pPr/>
          </a:p>
          <a:p>
            <a:pPr/>
            <a:r>
              <a:t>JARS Compliance: APA Journal Article Reporting Standards</a:t>
            </a:r>
          </a:p>
          <a:p>
            <a:pPr/>
          </a:p>
          <a:p>
            <a:pPr/>
            <a:r>
              <a:t>Output: SQS Score (0-100), Grade (A-F), 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Backend (Django REST Framework):</a:t>
            </a:r>
          </a:p>
          <a:p>
            <a:pPr lvl="1"/>
            <a:r>
              <a:t>60+ API endpoints</a:t>
            </a:r>
          </a:p>
          <a:p>
            <a:pPr lvl="1"/>
            <a:r>
              <a:t>50-decimal precision computing</a:t>
            </a:r>
          </a:p>
          <a:p>
            <a:pPr lvl="1"/>
            <a:r>
              <a:t>Guardian middleware enforces design contract</a:t>
            </a:r>
          </a:p>
          <a:p>
            <a:pPr/>
          </a:p>
          <a:p>
            <a:pPr/>
            <a:r>
              <a:t>Frontend (React):</a:t>
            </a:r>
          </a:p>
          <a:p>
            <a:pPr lvl="1"/>
            <a:r>
              <a:t>633 JS/JSX files, 364 components</a:t>
            </a:r>
          </a:p>
          <a:p>
            <a:pPr lvl="1"/>
            <a:r>
              <a:t>21 API services, 17 custom hooks</a:t>
            </a:r>
          </a:p>
          <a:p>
            <a:pPr lvl="1"/>
            <a:r>
              <a:t>D3.js + Three.js visualizations</a:t>
            </a:r>
          </a:p>
          <a:p>
            <a:pPr/>
          </a:p>
          <a:p>
            <a:pPr/>
            <a:r>
              <a:t>Libraries: scipy, statsmodels, pingouin, networkx, Claude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StickForStats vs Existing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 Comparison:</a:t>
            </a:r>
          </a:p>
          <a:p>
            <a:pPr/>
          </a:p>
          <a:p>
            <a:pPr lvl="1"/>
            <a:r>
              <a:t>Assumption tests: SPSS/R/GraphPad = Optional | StickForStats = MANDATORY</a:t>
            </a:r>
          </a:p>
          <a:p>
            <a:pPr lvl="1"/>
            <a:r>
              <a:t>Violation blocking: Others = No | StickForStats = Yes</a:t>
            </a:r>
          </a:p>
          <a:p>
            <a:pPr lvl="1"/>
            <a:r>
              <a:t>Alternative suggestions: Others = No | StickForStats = Yes</a:t>
            </a:r>
          </a:p>
          <a:p>
            <a:pPr lvl="1"/>
            <a:r>
              <a:t>Confidence score: Others = No | StickForStats = Yes</a:t>
            </a:r>
          </a:p>
          <a:p>
            <a:pPr lvl="1"/>
            <a:r>
              <a:t>Integrated education: Others = Limited | StickForStats = 58 lessons</a:t>
            </a:r>
          </a:p>
          <a:p>
            <a:pPr lvl="1"/>
            <a:r>
              <a:t>Reproducibility bundle: Others = Partial | StickForStats = Complete</a:t>
            </a:r>
          </a:p>
          <a:p>
            <a:pPr lvl="1"/>
            <a:r>
              <a:t>AI guidance: Others = No | StickForStats = Yes</a:t>
            </a:r>
          </a:p>
          <a:p>
            <a:pPr/>
          </a:p>
          <a:p>
            <a:pPr/>
            <a:r>
              <a:t>We're not replacing R - we're adding protection that doesn't exist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Numbers:</a:t>
            </a:r>
          </a:p>
          <a:p>
            <a:pPr lvl="1"/>
            <a:r>
              <a:t>8 Guardian validators implemented</a:t>
            </a:r>
          </a:p>
          <a:p>
            <a:pPr lvl="1"/>
            <a:r>
              <a:t>50 decimal precision</a:t>
            </a:r>
          </a:p>
          <a:p>
            <a:pPr lvl="1"/>
            <a:r>
              <a:t>58 educational lessons</a:t>
            </a:r>
          </a:p>
          <a:p>
            <a:pPr lvl="1"/>
            <a:r>
              <a:t>60+ API endpoints</a:t>
            </a:r>
          </a:p>
          <a:p>
            <a:pPr lvl="1"/>
            <a:r>
              <a:t>86 backend modules</a:t>
            </a:r>
          </a:p>
          <a:p>
            <a:pPr lvl="1"/>
            <a:r>
              <a:t>80+ test files</a:t>
            </a:r>
          </a:p>
          <a:p>
            <a:pPr lvl="1"/>
            <a:r>
              <a:t>400+ test methods</a:t>
            </a:r>
          </a:p>
          <a:p>
            <a:pPr lvl="1"/>
            <a:r>
              <a:t>14-16 decimal validation vs scipy</a:t>
            </a:r>
          </a:p>
          <a:p>
            <a:pPr/>
          </a:p>
          <a:p>
            <a:pPr/>
            <a:r>
              <a:t>All claims verified - nothing is demo-only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JSS Submission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Journal of Statistical Software - Manuscript Ready</a:t>
            </a:r>
          </a:p>
          <a:p>
            <a:pPr/>
          </a:p>
          <a:p>
            <a:pPr/>
            <a:r>
              <a:t>What the Paper Claims (All Verified):</a:t>
            </a:r>
          </a:p>
          <a:p>
            <a:pPr lvl="1"/>
            <a:r>
              <a:t>✓ 8 Guardian validators implemented</a:t>
            </a:r>
          </a:p>
          <a:p>
            <a:pPr lvl="1"/>
            <a:r>
              <a:t>✓ 50-decimal precision computing</a:t>
            </a:r>
          </a:p>
          <a:p>
            <a:pPr lvl="1"/>
            <a:r>
              <a:t>✓ 58 educational lessons</a:t>
            </a:r>
          </a:p>
          <a:p>
            <a:pPr lvl="1"/>
            <a:r>
              <a:t>✓ Validation to 14+ decimal places</a:t>
            </a:r>
          </a:p>
          <a:p>
            <a:pPr lvl="1"/>
            <a:r>
              <a:t>✓ Bayesian, Causal, Mixed Models modules</a:t>
            </a:r>
          </a:p>
          <a:p>
            <a:pPr/>
          </a:p>
          <a:p>
            <a:pPr/>
            <a:r>
              <a:t>Minor Corrections Applied:</a:t>
            </a:r>
          </a:p>
          <a:p>
            <a:pPr lvl="1"/>
            <a:r>
              <a:t>Code export: Python only (R pending)</a:t>
            </a:r>
          </a:p>
          <a:p>
            <a:pPr lvl="1"/>
            <a:r>
              <a:t>Lesson count: Updated to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Immediate (3 months):</a:t>
            </a:r>
          </a:p>
          <a:p>
            <a:pPr lvl="1"/>
            <a:r>
              <a:t>R code export functionality</a:t>
            </a:r>
          </a:p>
          <a:p>
            <a:pPr lvl="1"/>
            <a:r>
              <a:t>Additional Bayesian methods</a:t>
            </a:r>
          </a:p>
          <a:p>
            <a:pPr lvl="1"/>
            <a:r>
              <a:t>Instrumental variables</a:t>
            </a:r>
          </a:p>
          <a:p>
            <a:pPr/>
          </a:p>
          <a:p>
            <a:pPr/>
            <a:r>
              <a:t>Medium-term (6-12 months):</a:t>
            </a:r>
          </a:p>
          <a:p>
            <a:pPr lvl="1"/>
            <a:r>
              <a:t>Structural equation modeling GUI</a:t>
            </a:r>
          </a:p>
          <a:p>
            <a:pPr lvl="1"/>
            <a:r>
              <a:t>Multi-level mediation</a:t>
            </a:r>
          </a:p>
          <a:p>
            <a:pPr lvl="1"/>
            <a:r>
              <a:t>Collaborative features</a:t>
            </a:r>
          </a:p>
          <a:p>
            <a:pPr/>
          </a:p>
          <a:p>
            <a:pPr/>
            <a:r>
              <a:t>Long-term:</a:t>
            </a:r>
          </a:p>
          <a:p>
            <a:pPr lvl="1"/>
            <a:r>
              <a:t>OSF integration</a:t>
            </a:r>
          </a:p>
          <a:p>
            <a:pPr lvl="1"/>
            <a:r>
              <a:t>Automated meta-analysis from literature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</a:p>
          <a:p>
            <a:pPr/>
          </a:p>
          <a:p>
            <a:pPr/>
            <a:r>
              <a:t>Everything you've seen today is REAL, production code.</a:t>
            </a:r>
          </a:p>
          <a:p>
            <a:pPr/>
          </a:p>
          <a:p>
            <a:pPr/>
            <a:r>
              <a:t>Nothing is demo-only.</a:t>
            </a:r>
          </a:p>
          <a:p>
            <a:pPr/>
          </a:p>
          <a:p>
            <a:pPr/>
            <a:r>
              <a:t>Every feature is exactly what will be published</a:t>
            </a:r>
          </a:p>
          <a:p>
            <a:pPr/>
            <a:r>
              <a:t>in JSS and available to researchers.</a:t>
            </a:r>
          </a:p>
          <a:p>
            <a:pPr/>
          </a:p>
          <a:p>
            <a:pPr/>
          </a:p>
          <a:p>
            <a:pPr/>
            <a:r>
              <a:t>— The StickForStats Promise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Discussion Points:</a:t>
            </a:r>
          </a:p>
          <a:p>
            <a:pPr/>
          </a:p>
          <a:p>
            <a:pPr/>
            <a:r>
              <a:t>1. Guardian strictness: Should critical violations always block?</a:t>
            </a:r>
          </a:p>
          <a:p>
            <a:pPr/>
          </a:p>
          <a:p>
            <a:pPr/>
            <a:r>
              <a:t>2. Educational integration: Balance learning vs. speed?</a:t>
            </a:r>
          </a:p>
          <a:p>
            <a:pPr/>
          </a:p>
          <a:p>
            <a:pPr/>
            <a:r>
              <a:t>3. AI guidance: How much AI assistance is appropriate?</a:t>
            </a:r>
          </a:p>
          <a:p>
            <a:pPr/>
          </a:p>
          <a:p>
            <a:pPr/>
            <a:r>
              <a:t>4. Reproducibility: What else should the bundle capture?</a:t>
            </a:r>
          </a:p>
          <a:p>
            <a:pPr/>
          </a:p>
          <a:p>
            <a:pPr/>
          </a:p>
          <a:p>
            <a:pPr/>
            <a:r>
              <a:t>Try it yourself: Clone the repo and run locally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StickForStats v1.0</a:t>
            </a:r>
          </a:p>
          <a:p>
            <a:r>
              <a:t>JSS Submission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